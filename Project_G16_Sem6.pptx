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9" r:id="rId9"/>
    <p:sldId id="270" r:id="rId10"/>
    <p:sldId id="262" r:id="rId11"/>
    <p:sldId id="264" r:id="rId12"/>
    <p:sldId id="265" r:id="rId13"/>
    <p:sldId id="266" r:id="rId14"/>
    <p:sldId id="267" r:id="rId15"/>
    <p:sldId id="268" r:id="rId16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71C263-BF80-BDD8-C4D7-3E17DC7721E8}" v="990" dt="2026-03-31T16:23:04.7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340fd4486_5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340fd4486_5_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40fd4486_1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340fd4486_10_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49D6F6C-3227-6B13-4468-4C464F52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40fd4486_10_8:notes">
            <a:extLst>
              <a:ext uri="{FF2B5EF4-FFF2-40B4-BE49-F238E27FC236}">
                <a16:creationId xmlns:a16="http://schemas.microsoft.com/office/drawing/2014/main" id="{1ED9B3FF-406B-AE16-689D-6F0BA89E7C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340fd4486_10_8:notes">
            <a:extLst>
              <a:ext uri="{FF2B5EF4-FFF2-40B4-BE49-F238E27FC236}">
                <a16:creationId xmlns:a16="http://schemas.microsoft.com/office/drawing/2014/main" id="{7774F138-FEA0-10CC-441E-6B28FE8AE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8048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B728C3B4-013F-3C1D-28D4-7AD362313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40fd4486_10_8:notes">
            <a:extLst>
              <a:ext uri="{FF2B5EF4-FFF2-40B4-BE49-F238E27FC236}">
                <a16:creationId xmlns:a16="http://schemas.microsoft.com/office/drawing/2014/main" id="{41DBC838-3061-E471-5572-FA2CADE33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340fd4486_10_8:notes">
            <a:extLst>
              <a:ext uri="{FF2B5EF4-FFF2-40B4-BE49-F238E27FC236}">
                <a16:creationId xmlns:a16="http://schemas.microsoft.com/office/drawing/2014/main" id="{1D148F93-CBE9-679C-1530-F46070FF2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960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340fd4486_1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340fd4486_10_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340fd4486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340fd4486_5_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901700" y="614298"/>
            <a:ext cx="9276079" cy="960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1435353" y="1480820"/>
            <a:ext cx="9537700" cy="429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01700" y="614298"/>
            <a:ext cx="9276079" cy="960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01700" y="614298"/>
            <a:ext cx="9276079" cy="960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777760" y="446659"/>
            <a:ext cx="11162030" cy="0"/>
          </a:xfrm>
          <a:custGeom>
            <a:avLst/>
            <a:gdLst/>
            <a:ahLst/>
            <a:cxnLst/>
            <a:rect l="l" t="t" r="r" b="b"/>
            <a:pathLst>
              <a:path w="11162030" h="120000" extrusionOk="0">
                <a:moveTo>
                  <a:pt x="0" y="0"/>
                </a:moveTo>
                <a:lnTo>
                  <a:pt x="11162017" y="0"/>
                </a:lnTo>
              </a:path>
            </a:pathLst>
          </a:custGeom>
          <a:noFill/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398" y="100495"/>
            <a:ext cx="692365" cy="6923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/>
          <p:nvPr/>
        </p:nvSpPr>
        <p:spPr>
          <a:xfrm>
            <a:off x="0" y="6442836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120000" extrusionOk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700" cap="flat" cmpd="sng">
            <a:solidFill>
              <a:srgbClr val="6EAC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901700" y="614298"/>
            <a:ext cx="9276079" cy="960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1435353" y="1480820"/>
            <a:ext cx="9537700" cy="429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socket.io/docs" TargetMode="External"/><Relationship Id="rId3" Type="http://schemas.openxmlformats.org/officeDocument/2006/relationships/hyperlink" Target="http://twilio.com/docs" TargetMode="External"/><Relationship Id="rId7" Type="http://schemas.openxmlformats.org/officeDocument/2006/relationships/hyperlink" Target="http://huggingface.co/facebook/bart-large-cn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trai.gov.in&#8203;" TargetMode="External"/><Relationship Id="rId5" Type="http://schemas.openxmlformats.org/officeDocument/2006/relationships/hyperlink" Target="http://huggingface.co/datasets/banking77" TargetMode="External"/><Relationship Id="rId4" Type="http://schemas.openxmlformats.org/officeDocument/2006/relationships/hyperlink" Target="http://huggingface.co/distilbert-base-uncased" TargetMode="External"/><Relationship Id="rId9" Type="http://schemas.openxmlformats.org/officeDocument/2006/relationships/hyperlink" Target="http://nextjs.org/docs&#8203;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7"/>
          <p:cNvGrpSpPr/>
          <p:nvPr/>
        </p:nvGrpSpPr>
        <p:grpSpPr>
          <a:xfrm>
            <a:off x="85342" y="79247"/>
            <a:ext cx="11853927" cy="693419"/>
            <a:chOff x="85342" y="79247"/>
            <a:chExt cx="11853927" cy="693419"/>
          </a:xfrm>
        </p:grpSpPr>
        <p:sp>
          <p:nvSpPr>
            <p:cNvPr id="47" name="Google Shape;47;p7"/>
            <p:cNvSpPr/>
            <p:nvPr/>
          </p:nvSpPr>
          <p:spPr>
            <a:xfrm>
              <a:off x="777239" y="452627"/>
              <a:ext cx="11162030" cy="0"/>
            </a:xfrm>
            <a:custGeom>
              <a:avLst/>
              <a:gdLst/>
              <a:ahLst/>
              <a:cxnLst/>
              <a:rect l="l" t="t" r="r" b="b"/>
              <a:pathLst>
                <a:path w="11162030" h="120000" extrusionOk="0">
                  <a:moveTo>
                    <a:pt x="0" y="0"/>
                  </a:moveTo>
                  <a:lnTo>
                    <a:pt x="11162030" y="0"/>
                  </a:lnTo>
                </a:path>
              </a:pathLst>
            </a:custGeom>
            <a:noFill/>
            <a:ln w="121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48" name="Google Shape;48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342" y="79247"/>
              <a:ext cx="691896" cy="6934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" name="Google Shape;49;p7"/>
          <p:cNvSpPr txBox="1"/>
          <p:nvPr/>
        </p:nvSpPr>
        <p:spPr>
          <a:xfrm>
            <a:off x="2934074" y="101851"/>
            <a:ext cx="6512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0" y="644347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120000" extrusionOk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175" cap="flat" cmpd="sng">
            <a:solidFill>
              <a:srgbClr val="6EAC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-563816" y="604208"/>
            <a:ext cx="12503085" cy="81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175" rIns="0" bIns="0" anchor="t" anchorCtr="0">
            <a:spAutoFit/>
          </a:bodyPr>
          <a:lstStyle/>
          <a:p>
            <a:pPr marL="1572895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u="sng" dirty="0"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b="1" i="1" u="sng" dirty="0" err="1">
                <a:latin typeface="Times New Roman"/>
                <a:ea typeface="Times New Roman"/>
                <a:cs typeface="Times New Roman"/>
                <a:sym typeface="Times New Roman"/>
              </a:rPr>
              <a:t>UnifyComm</a:t>
            </a:r>
            <a:r>
              <a:rPr lang="en-US" b="1" i="1" u="sng" dirty="0">
                <a:latin typeface="Times New Roman"/>
                <a:ea typeface="Times New Roman"/>
                <a:cs typeface="Times New Roman"/>
                <a:sym typeface="Times New Roman"/>
              </a:rPr>
              <a:t> AI-Driven Channel Orchestration”</a:t>
            </a:r>
            <a:endParaRPr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7"/>
          <p:cNvSpPr txBox="1"/>
          <p:nvPr/>
        </p:nvSpPr>
        <p:spPr>
          <a:xfrm>
            <a:off x="544169" y="4131411"/>
            <a:ext cx="42228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8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>
                <a:solidFill>
                  <a:srgbClr val="272323"/>
                </a:solidFill>
                <a:latin typeface="Arial"/>
                <a:ea typeface="Arial"/>
                <a:cs typeface="Arial"/>
                <a:sym typeface="Arial"/>
              </a:rPr>
              <a:t>Presented </a:t>
            </a:r>
            <a:r>
              <a:rPr lang="en-US" sz="2000" b="1" u="sng">
                <a:solidFill>
                  <a:srgbClr val="272323"/>
                </a:solidFill>
              </a:rPr>
              <a:t>B</a:t>
            </a:r>
            <a:r>
              <a:rPr lang="en-US" sz="2000" b="1" u="sng">
                <a:solidFill>
                  <a:srgbClr val="272323"/>
                </a:solidFill>
                <a:latin typeface="Arial"/>
                <a:ea typeface="Arial"/>
                <a:cs typeface="Arial"/>
                <a:sym typeface="Arial"/>
              </a:rPr>
              <a:t>y: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30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72323"/>
                </a:solidFill>
                <a:latin typeface="Calibri"/>
                <a:ea typeface="Calibri"/>
                <a:cs typeface="Calibri"/>
                <a:sym typeface="Calibri"/>
              </a:rPr>
              <a:t>Yash Gupta (2023071084)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>
              <a:spcBef>
                <a:spcPts val="805"/>
              </a:spcBef>
            </a:pPr>
            <a:r>
              <a:rPr lang="en-US" sz="2000">
                <a:solidFill>
                  <a:srgbClr val="272323"/>
                </a:solidFill>
                <a:latin typeface="Calibri"/>
                <a:ea typeface="Calibri"/>
                <a:cs typeface="Calibri"/>
                <a:sym typeface="Calibri"/>
              </a:rPr>
              <a:t>Ryan Maroof (2023071063)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>
              <a:spcBef>
                <a:spcPts val="695"/>
              </a:spcBef>
            </a:pPr>
            <a:r>
              <a:rPr lang="en-US" sz="2000">
                <a:solidFill>
                  <a:srgbClr val="272323"/>
                </a:solidFill>
                <a:latin typeface="Calibri"/>
                <a:ea typeface="Calibri"/>
                <a:cs typeface="Calibri"/>
                <a:sym typeface="Calibri"/>
              </a:rPr>
              <a:t>Nikhil Dubey (2023071047)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7945777" y="4307350"/>
            <a:ext cx="3609600" cy="1110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just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>
                <a:latin typeface="Arial"/>
                <a:ea typeface="Arial"/>
                <a:cs typeface="Arial"/>
                <a:sym typeface="Arial"/>
              </a:rPr>
              <a:t>Under the guidance of: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12700" marR="5080" algn="just">
              <a:lnSpc>
                <a:spcPct val="119000"/>
              </a:lnSpc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Assistant Professor Niharika Singh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just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(Department of ITCA)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7071" y="1981329"/>
            <a:ext cx="2459735" cy="2458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2934074" y="101851"/>
            <a:ext cx="6813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260235" y="649232"/>
            <a:ext cx="9276000" cy="8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7600" rIns="0" bIns="0" anchor="t" anchorCtr="0">
            <a:spAutoFit/>
          </a:bodyPr>
          <a:lstStyle/>
          <a:p>
            <a:pPr marL="8496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Content</a:t>
            </a:r>
            <a:endParaRPr u="sng"/>
          </a:p>
        </p:txBody>
      </p:sp>
      <p:sp>
        <p:nvSpPr>
          <p:cNvPr id="61" name="Google Shape;61;p8"/>
          <p:cNvSpPr txBox="1"/>
          <p:nvPr/>
        </p:nvSpPr>
        <p:spPr>
          <a:xfrm>
            <a:off x="1434597" y="1464632"/>
            <a:ext cx="5389500" cy="4999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4965" lvl="0" indent="-3295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indent="-329565">
              <a:lnSpc>
                <a:spcPct val="150000"/>
              </a:lnSpc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</a:rPr>
              <a:t>The Problem: Fragmented Communication</a:t>
            </a:r>
          </a:p>
          <a:p>
            <a:pPr marL="354965" indent="-329565">
              <a:lnSpc>
                <a:spcPct val="150000"/>
              </a:lnSpc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The Solution: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Unifycomm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indent="-329565">
              <a:lnSpc>
                <a:spcPct val="150000"/>
              </a:lnSpc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</a:rPr>
              <a:t>Message Flow Diagram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indent="-329565">
              <a:lnSpc>
                <a:spcPct val="150000"/>
              </a:lnSpc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</a:rPr>
              <a:t>System Architecture</a:t>
            </a:r>
          </a:p>
          <a:p>
            <a:pPr marL="354965" indent="-329565">
              <a:lnSpc>
                <a:spcPct val="150000"/>
              </a:lnSpc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</a:rPr>
              <a:t>Intent Classification Model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indent="-329565">
              <a:lnSpc>
                <a:spcPct val="150000"/>
              </a:lnSpc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</a:rPr>
              <a:t>Sentiment Analysis Model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295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indent="-329565">
              <a:lnSpc>
                <a:spcPct val="150000"/>
              </a:lnSpc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</a:rPr>
              <a:t>Feasibility and Viability</a:t>
            </a:r>
          </a:p>
          <a:p>
            <a:pPr marL="354965" indent="-329565">
              <a:lnSpc>
                <a:spcPct val="150000"/>
              </a:lnSpc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</a:rPr>
              <a:t>Impacts and Benefits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indent="-329565">
              <a:lnSpc>
                <a:spcPct val="150000"/>
              </a:lnSpc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Production Scope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295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/>
        </p:nvSpPr>
        <p:spPr>
          <a:xfrm>
            <a:off x="2934074" y="101850"/>
            <a:ext cx="6510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20206" y="580983"/>
            <a:ext cx="9276000" cy="8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4775" rIns="0" bIns="0" anchor="t" anchorCtr="0">
            <a:spAutoFit/>
          </a:bodyPr>
          <a:lstStyle/>
          <a:p>
            <a:pPr marL="584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/>
              <a:t>Introduction</a:t>
            </a:r>
            <a:endParaRPr u="sng" dirty="0"/>
          </a:p>
        </p:txBody>
      </p:sp>
      <p:sp>
        <p:nvSpPr>
          <p:cNvPr id="68" name="Google Shape;68;p9"/>
          <p:cNvSpPr txBox="1"/>
          <p:nvPr/>
        </p:nvSpPr>
        <p:spPr>
          <a:xfrm>
            <a:off x="243398" y="1750439"/>
            <a:ext cx="10427744" cy="335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UnifyComm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AI-powered platform designed to unify customer interactions across multiple channels.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Approach: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replaces isolated communication dashboards with a custom-trained ML intent classifier and a channel orchestration engine.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Solution: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platform maintains a single, real-time conversation thread per customer, seamlessly integrating Email, SMS, WhatsApp, and calls.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Advantage: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utilizes Gen-AI for intelligent response drafting, sentiment detection, and strict compliance enforcement.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/>
        </p:nvSpPr>
        <p:spPr>
          <a:xfrm>
            <a:off x="2934074" y="101850"/>
            <a:ext cx="7030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554734" y="511932"/>
            <a:ext cx="9276000" cy="9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7800" rIns="0" bIns="0" anchor="t" anchorCtr="0">
            <a:spAutoFit/>
          </a:bodyPr>
          <a:lstStyle/>
          <a:p>
            <a:pPr marL="497840" lvl="0"/>
            <a:r>
              <a:rPr lang="en-IN" u="sng" dirty="0"/>
              <a:t>The Problem: Fragmented Communication</a:t>
            </a:r>
            <a:endParaRPr u="sng" dirty="0"/>
          </a:p>
        </p:txBody>
      </p:sp>
      <p:sp>
        <p:nvSpPr>
          <p:cNvPr id="77" name="Google Shape;77;p10"/>
          <p:cNvSpPr txBox="1"/>
          <p:nvPr/>
        </p:nvSpPr>
        <p:spPr>
          <a:xfrm>
            <a:off x="1018452" y="1813105"/>
            <a:ext cx="6306175" cy="4232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Channels: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conversations are scattered across Email, SMS, WhatsApp, and calls.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Loss: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zero shared history between channels, customers are forced to repeat their issues to different agents.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Inefficiency: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handling of isolated queries leads to high average handling times.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 Vulnerability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Unregulated multi-channel outreach creates high risks of violating TRAI and RBI regulations (e.g., DNC breaches).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5CD03A-F56A-8BD6-FB1C-BC7A7EEF7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674" y="2007665"/>
            <a:ext cx="3994208" cy="37487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/>
        </p:nvSpPr>
        <p:spPr>
          <a:xfrm>
            <a:off x="2934074" y="101850"/>
            <a:ext cx="6925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1108429" y="846497"/>
            <a:ext cx="5707149" cy="627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/>
              <a:t>The Solution: </a:t>
            </a:r>
            <a:r>
              <a:rPr lang="en-US" u="sng" dirty="0" err="1"/>
              <a:t>Unifycomm</a:t>
            </a:r>
            <a:endParaRPr u="sng" dirty="0"/>
          </a:p>
        </p:txBody>
      </p:sp>
      <p:sp>
        <p:nvSpPr>
          <p:cNvPr id="84" name="Google Shape;84;p11"/>
          <p:cNvSpPr txBox="1"/>
          <p:nvPr/>
        </p:nvSpPr>
        <p:spPr>
          <a:xfrm>
            <a:off x="1105692" y="1581406"/>
            <a:ext cx="6374822" cy="458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Omni-Channel: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Maintains a single, real-time conversation thread per customer, unifying all communication channels.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Context: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Agents can join any conversation mid-thread with full prior history, eliminating context repetition.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AI-Driven Efficiency: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Gen-AI powers intelligent response drafting and summarization, designed to reduce average handling time by 40%.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⮚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Compliance-First Engine: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built-in DNC/DND checks and consent validation pipelines prior to every outbound message.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996413-8928-FE73-8A7E-391FB45A1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62" y="1775966"/>
            <a:ext cx="3994208" cy="37487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/>
        </p:nvSpPr>
        <p:spPr>
          <a:xfrm>
            <a:off x="2934074" y="101850"/>
            <a:ext cx="7030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1111787" y="832198"/>
            <a:ext cx="6030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/>
            <a:r>
              <a:rPr lang="en-US" u="sng"/>
              <a:t>Message Flow Diagram</a:t>
            </a:r>
            <a:endParaRPr u="sn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6A6CD-C629-7AD3-22C6-CD4390CDE4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361" b="-235"/>
          <a:stretch>
            <a:fillRect/>
          </a:stretch>
        </p:blipFill>
        <p:spPr>
          <a:xfrm>
            <a:off x="599061" y="1912473"/>
            <a:ext cx="10997995" cy="4130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1103676" y="852997"/>
            <a:ext cx="92760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dirty="0"/>
              <a:t>System Architecture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2934074" y="101850"/>
            <a:ext cx="68814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5E6D47-7C3A-C8E6-E662-7AB01E21B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36" y="1468638"/>
            <a:ext cx="11264747" cy="50132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A7B1457-966E-494C-D0CB-E7EE7567E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0B90E7CD-DA44-3DF2-59EF-3EACAEADD010}"/>
              </a:ext>
            </a:extLst>
          </p:cNvPr>
          <p:cNvSpPr txBox="1"/>
          <p:nvPr/>
        </p:nvSpPr>
        <p:spPr>
          <a:xfrm>
            <a:off x="2934074" y="101850"/>
            <a:ext cx="68814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5C15CF-E419-4137-1E82-079FA1094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67" y="833503"/>
            <a:ext cx="9276079" cy="615553"/>
          </a:xfrm>
        </p:spPr>
        <p:txBody>
          <a:bodyPr/>
          <a:lstStyle/>
          <a:p>
            <a:r>
              <a:rPr lang="en-US" u="sng"/>
              <a:t>Intent Classification Model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19CDB-A8A1-5B51-4D29-0C5A7A690F5E}"/>
              </a:ext>
            </a:extLst>
          </p:cNvPr>
          <p:cNvSpPr txBox="1"/>
          <p:nvPr/>
        </p:nvSpPr>
        <p:spPr>
          <a:xfrm>
            <a:off x="782877" y="1445712"/>
            <a:ext cx="96032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800" b="1" i="0" baseline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 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MiniLM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Sequentially fine-tuned on Banking77 → combined dataset</a:t>
            </a:r>
            <a:r>
              <a:rPr lang="en-US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lang="en-US" dirty="0">
              <a:solidFill>
                <a:schemeClr val="dk1"/>
              </a:solidFill>
              <a:ea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US" sz="18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Dataset</a:t>
            </a:r>
            <a:r>
              <a:rPr lang="en-US" sz="1800" b="0" i="0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Banking77 + CLINC150</a:t>
            </a:r>
            <a:endParaRPr lang="en-IN" sz="18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285750" indent="-285750" algn="l" rtl="0">
              <a:buFont typeface="Wingdings"/>
              <a:buChar char="Ø"/>
            </a:pPr>
            <a:r>
              <a:rPr lang="en-US" sz="18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Accuracy</a:t>
            </a:r>
            <a:r>
              <a:rPr lang="en-US" sz="1800" b="0" i="0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~93.5%</a:t>
            </a:r>
            <a:endParaRPr lang="en-IN" sz="18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2C4FDD-2790-48A2-E20C-5CBF50605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04" y="2473890"/>
            <a:ext cx="4991696" cy="3883069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3813E3-F66E-02C5-E662-EB11BA0B9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980" y="2473890"/>
            <a:ext cx="5341713" cy="388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3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31EEF28E-CC21-9B14-1C6C-48DEAC506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C92BD68A-71B3-7F65-79EF-478B4D854E6D}"/>
              </a:ext>
            </a:extLst>
          </p:cNvPr>
          <p:cNvSpPr txBox="1"/>
          <p:nvPr/>
        </p:nvSpPr>
        <p:spPr>
          <a:xfrm>
            <a:off x="2934074" y="101850"/>
            <a:ext cx="68814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B6AAF2-C910-220F-E419-EE40872D1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67" y="833503"/>
            <a:ext cx="9276079" cy="615553"/>
          </a:xfrm>
        </p:spPr>
        <p:txBody>
          <a:bodyPr/>
          <a:lstStyle/>
          <a:p>
            <a:r>
              <a:rPr lang="en-US" u="sng"/>
              <a:t>Sentiment Analysis Model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589A2-1BDF-40FA-47D0-A1FEC3792E7B}"/>
              </a:ext>
            </a:extLst>
          </p:cNvPr>
          <p:cNvSpPr txBox="1"/>
          <p:nvPr/>
        </p:nvSpPr>
        <p:spPr>
          <a:xfrm>
            <a:off x="782877" y="1445712"/>
            <a:ext cx="96032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 rtl="0">
              <a:buFont typeface="Wingdings"/>
              <a:buChar char="Ø"/>
            </a:pPr>
            <a:r>
              <a:rPr lang="en-US" sz="1800" b="1" i="0" baseline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lang="en-US" sz="1800" b="0" i="0" baseline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lang="en-IN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Twitter-</a:t>
            </a:r>
            <a:r>
              <a:rPr lang="en-IN" sz="18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RoBERTa</a:t>
            </a:r>
            <a:r>
              <a:rPr lang="en-IN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IN" sz="18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cardiffnlp</a:t>
            </a:r>
            <a:r>
              <a:rPr lang="en-IN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/twitter-</a:t>
            </a:r>
            <a:r>
              <a:rPr lang="en-IN" sz="18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roberta</a:t>
            </a:r>
            <a:r>
              <a:rPr lang="en-IN" sz="18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-base-sentiment-latest)</a:t>
            </a:r>
            <a:endParaRPr lang="en-US"/>
          </a:p>
          <a:p>
            <a:pPr marL="285750" indent="-285750" algn="l" rtl="0">
              <a:buFont typeface="Wingdings"/>
              <a:buChar char="Ø"/>
            </a:pPr>
            <a:r>
              <a:rPr lang="en-US" sz="1800" b="1" i="0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Task</a:t>
            </a:r>
            <a:r>
              <a:rPr lang="en-US" sz="1800" b="0" i="0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en-IN" sz="1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Sentiment Classification (Positive / Neutral / Negative)</a:t>
            </a:r>
            <a:endParaRPr lang="en-IN" sz="18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285750" indent="-285750" algn="l" rtl="0">
              <a:buFont typeface="Wingdings"/>
              <a:buChar char="Ø"/>
            </a:pPr>
            <a:r>
              <a:rPr lang="en-US" sz="1800" b="1" i="0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Usage</a:t>
            </a:r>
            <a:r>
              <a:rPr lang="en-US" sz="1800" b="0" i="0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en-IN" sz="1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Customer sentiment detection</a:t>
            </a:r>
            <a:endParaRPr lang="en-IN" sz="18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C69524-E4FB-7F51-CF2F-B91C8706A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45" y="2473891"/>
            <a:ext cx="5011052" cy="3883069"/>
          </a:xfrm>
          <a:prstGeom prst="rect">
            <a:avLst/>
          </a:prstGeom>
        </p:spPr>
      </p:pic>
      <p:pic>
        <p:nvPicPr>
          <p:cNvPr id="11" name="Picture 10" descr="A screenshot of a chat&#10;&#10;AI-generated content may be incorrect.">
            <a:extLst>
              <a:ext uri="{FF2B5EF4-FFF2-40B4-BE49-F238E27FC236}">
                <a16:creationId xmlns:a16="http://schemas.microsoft.com/office/drawing/2014/main" id="{0A970743-1818-5600-541B-DC5B191ED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5" y="2473891"/>
            <a:ext cx="5365672" cy="38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8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1110467" y="852184"/>
            <a:ext cx="92760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/>
              <a:t>Technology Stack</a:t>
            </a:r>
            <a:endParaRPr u="sng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1"/>
          </p:nvPr>
        </p:nvSpPr>
        <p:spPr>
          <a:xfrm>
            <a:off x="792497" y="1692158"/>
            <a:ext cx="6614948" cy="366254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0005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US" sz="1800" b="1"/>
              <a:t>Frontend: </a:t>
            </a:r>
            <a:r>
              <a:rPr lang="en-US" sz="1800"/>
              <a:t>Next.js + Tailwind CSS (Agent dashboard + chat UI)</a:t>
            </a:r>
          </a:p>
          <a:p>
            <a:pPr marL="400050" indent="-285750">
              <a:spcBef>
                <a:spcPts val="1200"/>
              </a:spcBef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US" sz="1800" b="1"/>
              <a:t>Backend:</a:t>
            </a:r>
            <a:r>
              <a:rPr lang="en-US" sz="1800"/>
              <a:t> Spring Boot (REST APIs + WebSocket)</a:t>
            </a:r>
            <a:r>
              <a:rPr lang="en-US"/>
              <a:t>​</a:t>
            </a:r>
          </a:p>
          <a:p>
            <a:pPr marL="400050" indent="-285750">
              <a:spcBef>
                <a:spcPts val="1200"/>
              </a:spcBef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US" sz="1800" b="1"/>
              <a:t>​</a:t>
            </a:r>
            <a:r>
              <a:rPr lang="en-US" b="1"/>
              <a:t>Database: </a:t>
            </a:r>
            <a:r>
              <a:rPr lang="en-US"/>
              <a:t>PostgreSQL (customer profiles, conversation history)​, pgvector, MongoDB.</a:t>
            </a:r>
          </a:p>
          <a:p>
            <a:pPr marL="400050" indent="-285750">
              <a:spcBef>
                <a:spcPts val="1200"/>
              </a:spcBef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US" b="1"/>
              <a:t>Real-time: </a:t>
            </a:r>
            <a:r>
              <a:rPr lang="en-US"/>
              <a:t>Socket.IO (live conversation updates)​</a:t>
            </a:r>
          </a:p>
          <a:p>
            <a:pPr marL="400050" indent="-285750">
              <a:spcBef>
                <a:spcPts val="1200"/>
              </a:spcBef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US" b="1" dirty="0"/>
              <a:t>ML: </a:t>
            </a:r>
            <a:r>
              <a:rPr lang="en-US" dirty="0" err="1"/>
              <a:t>HuggingFace</a:t>
            </a:r>
            <a:r>
              <a:rPr lang="en-US" dirty="0"/>
              <a:t> </a:t>
            </a:r>
            <a:r>
              <a:rPr lang="en-US" dirty="0" err="1"/>
              <a:t>DistilBERT</a:t>
            </a:r>
            <a:r>
              <a:rPr lang="en-US" dirty="0"/>
              <a:t> (intent + sentiment), BART(summarization)​</a:t>
            </a:r>
          </a:p>
          <a:p>
            <a:pPr marL="400050" indent="-285750">
              <a:spcBef>
                <a:spcPts val="1200"/>
              </a:spcBef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US" b="1"/>
              <a:t>APIs: </a:t>
            </a:r>
            <a:r>
              <a:rPr lang="en-US"/>
              <a:t>Twilio (SMS/WhatsApp), OpenAI (reply drafting fallback)​</a:t>
            </a:r>
          </a:p>
        </p:txBody>
      </p:sp>
      <p:sp>
        <p:nvSpPr>
          <p:cNvPr id="98" name="Google Shape;98;p13"/>
          <p:cNvSpPr txBox="1"/>
          <p:nvPr/>
        </p:nvSpPr>
        <p:spPr>
          <a:xfrm>
            <a:off x="2934074" y="101850"/>
            <a:ext cx="68814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255C0E-B275-C5EA-96B1-9042B649E8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2" t="880" r="25668"/>
          <a:stretch>
            <a:fillRect/>
          </a:stretch>
        </p:blipFill>
        <p:spPr>
          <a:xfrm>
            <a:off x="7411075" y="1688433"/>
            <a:ext cx="4537529" cy="3468479"/>
          </a:xfrm>
          <a:prstGeom prst="rect">
            <a:avLst/>
          </a:prstGeom>
        </p:spPr>
      </p:pic>
      <p:sp>
        <p:nvSpPr>
          <p:cNvPr id="4" name="Google Shape;89;p12">
            <a:extLst>
              <a:ext uri="{FF2B5EF4-FFF2-40B4-BE49-F238E27FC236}">
                <a16:creationId xmlns:a16="http://schemas.microsoft.com/office/drawing/2014/main" id="{94A9B6F9-6B47-D3AB-C126-4C274E20F4F5}"/>
              </a:ext>
            </a:extLst>
          </p:cNvPr>
          <p:cNvSpPr txBox="1"/>
          <p:nvPr/>
        </p:nvSpPr>
        <p:spPr>
          <a:xfrm>
            <a:off x="2934074" y="101850"/>
            <a:ext cx="7030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2934074" y="101850"/>
            <a:ext cx="68814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230530" y="-146811"/>
            <a:ext cx="8953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901700" y="614298"/>
            <a:ext cx="9276000" cy="67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350" rIns="0" bIns="0" anchor="t" anchorCtr="0">
            <a:spAutoFit/>
          </a:bodyPr>
          <a:lstStyle/>
          <a:p>
            <a:pPr marL="88900"/>
            <a:r>
              <a:rPr lang="en-US" u="sng"/>
              <a:t>Feasibility and Viability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65477B-2208-CF26-10B9-519C4083DBA1}"/>
              </a:ext>
            </a:extLst>
          </p:cNvPr>
          <p:cNvSpPr txBox="1"/>
          <p:nvPr/>
        </p:nvSpPr>
        <p:spPr>
          <a:xfrm>
            <a:off x="770810" y="1497769"/>
            <a:ext cx="9846625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1" i="0" u="none" strike="noStrike">
                <a:latin typeface="Times New Roman"/>
                <a:cs typeface="Times New Roman"/>
              </a:rPr>
              <a:t>  Feasibility:</a:t>
            </a:r>
            <a:r>
              <a:rPr lang="en-US" sz="1800" b="0" i="0">
                <a:latin typeface="Times New Roman"/>
                <a:cs typeface="Times New Roman"/>
              </a:rPr>
              <a:t>​</a:t>
            </a:r>
          </a:p>
          <a:p>
            <a:pPr marL="914400" indent="-457200" algn="just">
              <a:buFont typeface="Wingdings,Sans-Serif"/>
              <a:buChar char="Ø"/>
            </a:pPr>
            <a:r>
              <a:rPr lang="en-US" sz="1800" b="0" i="0" u="none" strike="noStrike" baseline="0" dirty="0">
                <a:latin typeface="Times New Roman"/>
                <a:cs typeface="Times New Roman"/>
              </a:rPr>
              <a:t>All technologies used are production-grade and open source (</a:t>
            </a:r>
            <a:r>
              <a:rPr lang="en-US" sz="1800" b="0" i="0" u="none" strike="noStrike" baseline="0" dirty="0" err="1">
                <a:latin typeface="Times New Roman"/>
                <a:cs typeface="Times New Roman"/>
              </a:rPr>
              <a:t>HuggingFace</a:t>
            </a:r>
            <a:r>
              <a:rPr lang="en-US" sz="1800" b="0" i="0" u="none" strike="noStrike" baseline="0" dirty="0">
                <a:latin typeface="Times New Roman"/>
                <a:cs typeface="Times New Roman"/>
              </a:rPr>
              <a:t>,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b="0" i="0" u="none" strike="noStrike" baseline="0" dirty="0">
                <a:latin typeface="Times New Roman"/>
                <a:cs typeface="Times New Roman"/>
              </a:rPr>
              <a:t>Socket.IO,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b="0" i="0" u="none" strike="noStrike" baseline="0" dirty="0">
                <a:latin typeface="Times New Roman"/>
                <a:cs typeface="Times New Roman"/>
              </a:rPr>
              <a:t>PostgreSQL)</a:t>
            </a:r>
            <a:r>
              <a:rPr lang="en-US" sz="1800" b="0" i="0" dirty="0">
                <a:latin typeface="Times New Roman"/>
                <a:cs typeface="Times New Roman"/>
              </a:rPr>
              <a:t>​</a:t>
            </a:r>
          </a:p>
          <a:p>
            <a:pPr marL="914400" indent="-457200" algn="just" rtl="0">
              <a:buFont typeface="Wingdings,Sans-Serif"/>
              <a:buChar char="Ø"/>
            </a:pPr>
            <a:r>
              <a:rPr lang="en-US" sz="1800" b="0" i="0" u="none" strike="noStrike" baseline="0">
                <a:latin typeface="Times New Roman"/>
                <a:cs typeface="Times New Roman"/>
              </a:rPr>
              <a:t>Banking77 and CLINC150 are publicly available datasets for training the intent classifier.</a:t>
            </a:r>
            <a:r>
              <a:rPr lang="en-US" sz="1800" b="0" i="0">
                <a:latin typeface="Times New Roman"/>
                <a:cs typeface="Times New Roman"/>
              </a:rPr>
              <a:t>​</a:t>
            </a:r>
          </a:p>
          <a:p>
            <a:pPr marL="914400" indent="-457200" algn="just" rtl="0">
              <a:buFont typeface="Wingdings,Sans-Serif"/>
              <a:buChar char="Ø"/>
            </a:pPr>
            <a:r>
              <a:rPr lang="en-US" sz="1800" b="0" i="0" u="none" strike="noStrike" baseline="0">
                <a:latin typeface="Times New Roman"/>
                <a:cs typeface="Times New Roman"/>
              </a:rPr>
              <a:t>Twilio sandbox allows full SMS/WhatsApp testing without production access</a:t>
            </a:r>
            <a:r>
              <a:rPr lang="en-US" sz="1800" b="0" i="0">
                <a:latin typeface="Times New Roman"/>
                <a:cs typeface="Times New Roman"/>
              </a:rPr>
              <a:t>​</a:t>
            </a:r>
          </a:p>
          <a:p>
            <a:pPr marL="914400" indent="-457200" algn="just" rtl="0">
              <a:buFont typeface="Wingdings,Sans-Serif"/>
              <a:buChar char="Ø"/>
            </a:pPr>
            <a:r>
              <a:rPr lang="en-US" sz="1800" b="0" i="0" u="none" strike="noStrike" baseline="0">
                <a:latin typeface="Times New Roman"/>
                <a:cs typeface="Times New Roman"/>
              </a:rPr>
              <a:t>Fully buildable by a 3-person team in a hackathon window using modular microservices.</a:t>
            </a:r>
            <a:r>
              <a:rPr lang="en-US" sz="1800" b="0" i="0">
                <a:latin typeface="Times New Roman"/>
                <a:cs typeface="Times New Roman"/>
              </a:rPr>
              <a:t>​</a:t>
            </a:r>
          </a:p>
          <a:p>
            <a:pPr algn="just" rtl="0"/>
            <a:r>
              <a:rPr lang="en-US" sz="1800" b="0" i="0">
                <a:latin typeface="Times New Roman"/>
                <a:cs typeface="Times New Roman"/>
              </a:rPr>
              <a:t>​</a:t>
            </a:r>
          </a:p>
          <a:p>
            <a:pPr algn="just" rtl="0"/>
            <a:r>
              <a:rPr lang="en-US" sz="1800" b="1" i="0" u="none" strike="noStrike" baseline="0">
                <a:latin typeface="Times New Roman"/>
                <a:cs typeface="Times New Roman"/>
              </a:rPr>
              <a:t>Challenges &amp; Mitigation</a:t>
            </a:r>
            <a:r>
              <a:rPr lang="en-US" sz="1800" b="1">
                <a:latin typeface="Times New Roman"/>
                <a:cs typeface="Times New Roman"/>
              </a:rPr>
              <a:t>:</a:t>
            </a:r>
            <a:r>
              <a:rPr lang="en-US" sz="1800" b="0" i="0">
                <a:latin typeface="Times New Roman"/>
                <a:cs typeface="Times New Roman"/>
              </a:rPr>
              <a:t>​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FDF5B5-0472-1DF3-D687-1449519CF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238424"/>
              </p:ext>
            </p:extLst>
          </p:nvPr>
        </p:nvGraphicFramePr>
        <p:xfrm>
          <a:off x="900545" y="3878324"/>
          <a:ext cx="9721286" cy="207364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45533">
                  <a:extLst>
                    <a:ext uri="{9D8B030D-6E8A-4147-A177-3AD203B41FA5}">
                      <a16:colId xmlns:a16="http://schemas.microsoft.com/office/drawing/2014/main" val="2347585912"/>
                    </a:ext>
                  </a:extLst>
                </a:gridCol>
                <a:gridCol w="5375753">
                  <a:extLst>
                    <a:ext uri="{9D8B030D-6E8A-4147-A177-3AD203B41FA5}">
                      <a16:colId xmlns:a16="http://schemas.microsoft.com/office/drawing/2014/main" val="590137256"/>
                    </a:ext>
                  </a:extLst>
                </a:gridCol>
              </a:tblGrid>
              <a:tr h="244616">
                <a:tc>
                  <a:txBody>
                    <a:bodyPr/>
                    <a:lstStyle/>
                    <a:p>
                      <a:pPr lvl="0" algn="just" rtl="0">
                        <a:lnSpc>
                          <a:spcPts val="1650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Times New Roman"/>
                        </a:rPr>
                        <a:t>Challenge</a:t>
                      </a:r>
                    </a:p>
                  </a:txBody>
                  <a:tcPr marL="42062" marR="42062" marT="21031" marB="2103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6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Times New Roman"/>
                        </a:rPr>
                        <a:t>Mitigation</a:t>
                      </a:r>
                    </a:p>
                  </a:txBody>
                  <a:tcPr marL="42062" marR="42062" marT="21031" marB="2103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6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697719"/>
                  </a:ext>
                </a:extLst>
              </a:tr>
              <a:tr h="452540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/>
                        </a:rPr>
                        <a:t>Real-time sync across agents</a:t>
                      </a:r>
                    </a:p>
                  </a:txBody>
                  <a:tcPr marL="42062" marR="42062" marT="21031" marB="2103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6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/>
                        </a:rPr>
                        <a:t>Event-driven architecture with Socket.IO rooms</a:t>
                      </a:r>
                    </a:p>
                  </a:txBody>
                  <a:tcPr marL="42062" marR="42062" marT="21031" marB="2103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67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193559"/>
                  </a:ext>
                </a:extLst>
              </a:tr>
              <a:tr h="452540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/>
                        </a:rPr>
                        <a:t>Identity resolution accuracy</a:t>
                      </a:r>
                    </a:p>
                  </a:txBody>
                  <a:tcPr marL="42062" marR="42062" marT="21031" marB="2103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/>
                        </a:rPr>
                        <a:t>Fuzzy matching + unique identifier priority rules</a:t>
                      </a:r>
                    </a:p>
                  </a:txBody>
                  <a:tcPr marL="42062" marR="42062" marT="21031" marB="2103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486071"/>
                  </a:ext>
                </a:extLst>
              </a:tr>
              <a:tr h="452540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/>
                        </a:rPr>
                        <a:t>LLM response latency</a:t>
                      </a:r>
                    </a:p>
                  </a:txBody>
                  <a:tcPr marL="42062" marR="42062" marT="21031" marB="2103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/>
                        </a:rPr>
                        <a:t>Custom ML for structured tasks; LLM only for drafting</a:t>
                      </a:r>
                    </a:p>
                  </a:txBody>
                  <a:tcPr marL="42062" marR="42062" marT="21031" marB="2103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112024"/>
                  </a:ext>
                </a:extLst>
              </a:tr>
              <a:tr h="452540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/>
                        </a:rPr>
                        <a:t>Regulatory compliance accuracy</a:t>
                      </a:r>
                    </a:p>
                  </a:txBody>
                  <a:tcPr marL="42062" marR="42062" marT="21031" marB="2103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/>
                        </a:rPr>
                        <a:t>Rule-based DNC engine + ML content classifier</a:t>
                      </a:r>
                    </a:p>
                  </a:txBody>
                  <a:tcPr marL="42062" marR="42062" marT="21031" marB="2103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9998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2934074" y="101850"/>
            <a:ext cx="6929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901700" y="614298"/>
            <a:ext cx="9276000" cy="67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350" rIns="0" bIns="0" anchor="t" anchorCtr="0">
            <a:spAutoFit/>
          </a:bodyPr>
          <a:lstStyle/>
          <a:p>
            <a:pPr marL="12700"/>
            <a:r>
              <a:rPr lang="en-US" u="sng"/>
              <a:t>Impacts and Benefits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9B657A6B-9710-53DC-F090-729CEAB290EB}"/>
              </a:ext>
            </a:extLst>
          </p:cNvPr>
          <p:cNvSpPr txBox="1"/>
          <p:nvPr/>
        </p:nvSpPr>
        <p:spPr>
          <a:xfrm>
            <a:off x="108447" y="1466370"/>
            <a:ext cx="11573849" cy="4524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81050" lvl="1" algn="just"/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Target audience: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Banks, NBFCs, insurance companies, e-commerce platforms - any enterprise running multi- channel customer support</a:t>
            </a:r>
            <a:endParaRPr lang="en-US">
              <a:latin typeface="Times New Roman"/>
              <a:cs typeface="Times New Roman"/>
            </a:endParaRPr>
          </a:p>
          <a:p>
            <a:pPr marL="781050" lvl="1" algn="just"/>
            <a:endParaRPr lang="en-US" b="1">
              <a:latin typeface="Times New Roman"/>
              <a:ea typeface="+mn-lt"/>
              <a:cs typeface="Times New Roman"/>
            </a:endParaRPr>
          </a:p>
          <a:p>
            <a:pPr marL="781050" lvl="1"/>
            <a:r>
              <a:rPr lang="en-US" b="1">
                <a:latin typeface="Times New Roman"/>
                <a:ea typeface="+mn-lt"/>
                <a:cs typeface="Times New Roman"/>
              </a:rPr>
              <a:t>Impact points: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1238250" lvl="1" indent="-457200" algn="just">
              <a:buFont typeface="Wingdings"/>
              <a:buChar char="ü"/>
            </a:pPr>
            <a:r>
              <a:rPr lang="en-US">
                <a:latin typeface="Times New Roman"/>
                <a:ea typeface="+mn-lt"/>
                <a:cs typeface="Times New Roman"/>
              </a:rPr>
              <a:t>Eliminates context loss — agents never ask customers to repeat their issue.</a:t>
            </a:r>
          </a:p>
          <a:p>
            <a:pPr marL="1238250" lvl="1" indent="-457200" algn="just">
              <a:buFont typeface="Wingdings"/>
              <a:buChar char="ü"/>
            </a:pPr>
            <a:r>
              <a:rPr lang="en-US">
                <a:latin typeface="Times New Roman"/>
                <a:ea typeface="+mn-lt"/>
                <a:cs typeface="Times New Roman"/>
              </a:rPr>
              <a:t>Reduces average handling time by </a:t>
            </a:r>
            <a:r>
              <a:rPr lang="en-US" b="1" i="1">
                <a:latin typeface="Times New Roman"/>
                <a:ea typeface="+mn-lt"/>
                <a:cs typeface="Times New Roman"/>
              </a:rPr>
              <a:t>40</a:t>
            </a:r>
            <a:r>
              <a:rPr lang="en-US" i="1">
                <a:latin typeface="Times New Roman"/>
                <a:ea typeface="+mn-lt"/>
                <a:cs typeface="Times New Roman"/>
              </a:rPr>
              <a:t>%</a:t>
            </a:r>
            <a:r>
              <a:rPr lang="en-US">
                <a:latin typeface="Times New Roman"/>
                <a:ea typeface="+mn-lt"/>
                <a:cs typeface="Times New Roman"/>
              </a:rPr>
              <a:t> through AI-suggested replies and conversation summaries</a:t>
            </a:r>
          </a:p>
          <a:p>
            <a:pPr marL="1238250" lvl="1" indent="-457200" algn="just">
              <a:buFont typeface="Wingdings"/>
              <a:buChar char="ü"/>
            </a:pPr>
            <a:r>
              <a:rPr lang="en-US">
                <a:latin typeface="Times New Roman"/>
                <a:ea typeface="+mn-lt"/>
                <a:cs typeface="Times New Roman"/>
              </a:rPr>
              <a:t>Prevents regulatory violations (DNC breaches can result in </a:t>
            </a:r>
            <a:r>
              <a:rPr lang="en-US" b="1" i="1">
                <a:latin typeface="Times New Roman"/>
                <a:ea typeface="+mn-lt"/>
                <a:cs typeface="Times New Roman"/>
              </a:rPr>
              <a:t>₹500+</a:t>
            </a:r>
            <a:r>
              <a:rPr lang="en-US">
                <a:latin typeface="Times New Roman"/>
                <a:ea typeface="+mn-lt"/>
                <a:cs typeface="Times New Roman"/>
              </a:rPr>
              <a:t> crore penalties under TRAI regulations).</a:t>
            </a:r>
          </a:p>
          <a:p>
            <a:pPr marL="1238250" lvl="1" indent="-457200" algn="just">
              <a:buFont typeface="Wingdings"/>
              <a:buChar char="ü"/>
            </a:pPr>
            <a:r>
              <a:rPr lang="en-US">
                <a:latin typeface="Times New Roman"/>
                <a:ea typeface="+mn-lt"/>
                <a:cs typeface="Times New Roman"/>
              </a:rPr>
              <a:t>Scales to millions of conversations with no increase in agent headcount.</a:t>
            </a:r>
          </a:p>
          <a:p>
            <a:pPr marL="781050" lvl="1" algn="just">
              <a:lnSpc>
                <a:spcPts val="3600"/>
              </a:lnSpc>
            </a:pPr>
            <a:endParaRPr lang="en-US" b="1">
              <a:latin typeface="Times New Roman"/>
              <a:ea typeface="+mn-lt"/>
              <a:cs typeface="Times New Roman"/>
            </a:endParaRPr>
          </a:p>
          <a:p>
            <a:pPr marL="781050" lvl="1" algn="just"/>
            <a:r>
              <a:rPr lang="en-US" b="1">
                <a:latin typeface="Times New Roman"/>
                <a:ea typeface="+mn-lt"/>
                <a:cs typeface="Times New Roman"/>
              </a:rPr>
              <a:t>Broader benefits: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1238250" lvl="1" indent="-457200" algn="just">
              <a:buFont typeface="Wingdings"/>
              <a:buChar char="ü"/>
            </a:pPr>
            <a:r>
              <a:rPr lang="en-US" i="1">
                <a:latin typeface="Times New Roman"/>
                <a:ea typeface="+mn-lt"/>
                <a:cs typeface="Times New Roman"/>
              </a:rPr>
              <a:t>Social: Better</a:t>
            </a:r>
            <a:r>
              <a:rPr lang="en-US">
                <a:latin typeface="Times New Roman"/>
                <a:ea typeface="+mn-lt"/>
                <a:cs typeface="Times New Roman"/>
              </a:rPr>
              <a:t>, faster resolution for end customers - especially in banking and healthcare.</a:t>
            </a:r>
          </a:p>
          <a:p>
            <a:pPr marL="1238250" lvl="1" indent="-457200" algn="just">
              <a:buFont typeface="Wingdings"/>
              <a:buChar char="ü"/>
            </a:pPr>
            <a:r>
              <a:rPr lang="en-US" i="1">
                <a:latin typeface="Times New Roman"/>
                <a:ea typeface="+mn-lt"/>
                <a:cs typeface="Times New Roman"/>
              </a:rPr>
              <a:t>Economic:</a:t>
            </a:r>
            <a:r>
              <a:rPr lang="en-US">
                <a:latin typeface="Times New Roman"/>
                <a:ea typeface="+mn-lt"/>
                <a:cs typeface="Times New Roman"/>
              </a:rPr>
              <a:t> Reduces support operations cost significantly for enterprises.</a:t>
            </a:r>
          </a:p>
          <a:p>
            <a:pPr marL="1238250" lvl="1" indent="-457200" algn="just">
              <a:buFont typeface="Wingdings"/>
              <a:buChar char="ü"/>
            </a:pPr>
            <a:r>
              <a:rPr lang="en-US" i="1">
                <a:latin typeface="Times New Roman"/>
                <a:ea typeface="+mn-lt"/>
                <a:cs typeface="Times New Roman"/>
              </a:rPr>
              <a:t>Environmental:</a:t>
            </a:r>
            <a:r>
              <a:rPr lang="en-US">
                <a:latin typeface="Times New Roman"/>
                <a:ea typeface="+mn-lt"/>
                <a:cs typeface="Times New Roman"/>
              </a:rPr>
              <a:t> Reduces redundant communication - fewer failed message retries = lower API costs and energy use.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1238250" lvl="1" indent="-457200" algn="just">
              <a:lnSpc>
                <a:spcPts val="3600"/>
              </a:lnSpc>
              <a:buFont typeface="Wingdings"/>
              <a:buChar char="ü"/>
            </a:pPr>
            <a:endParaRPr lang="en-US" sz="3000" b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/>
        </p:nvSpPr>
        <p:spPr>
          <a:xfrm>
            <a:off x="2934074" y="101850"/>
            <a:ext cx="7071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230530" y="-146811"/>
            <a:ext cx="8953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901700" y="614298"/>
            <a:ext cx="92760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350" rIns="0" bIns="0" anchor="t" anchorCtr="0">
            <a:spAutoFit/>
          </a:bodyPr>
          <a:lstStyle/>
          <a:p>
            <a:pPr marL="88900"/>
            <a:r>
              <a:rPr lang="en-US" u="sng"/>
              <a:t>Production Scope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A50E8-119F-C635-D7F4-24579170157A}"/>
              </a:ext>
            </a:extLst>
          </p:cNvPr>
          <p:cNvSpPr txBox="1"/>
          <p:nvPr/>
        </p:nvSpPr>
        <p:spPr>
          <a:xfrm>
            <a:off x="897699" y="1497904"/>
            <a:ext cx="10104328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800" b="1">
                <a:latin typeface="Times New Roman"/>
                <a:cs typeface="Times New Roman"/>
              </a:rPr>
              <a:t>Revenue Model:-​</a:t>
            </a:r>
            <a:endParaRPr lang="en-US" sz="1800" b="1" dirty="0"/>
          </a:p>
          <a:p>
            <a:pPr algn="just"/>
            <a:r>
              <a:rPr lang="en-US" sz="1800" b="1">
                <a:latin typeface="Times New Roman"/>
                <a:cs typeface="Times New Roman"/>
              </a:rPr>
              <a:t>SaaS subscription</a:t>
            </a:r>
            <a:r>
              <a:rPr lang="en-US" sz="1800">
                <a:latin typeface="Times New Roman"/>
                <a:cs typeface="Times New Roman"/>
              </a:rPr>
              <a:t> - tiered by number of agents, channels, and monthly active conversations​</a:t>
            </a:r>
            <a:endParaRPr lang="en-US" sz="1800" dirty="0"/>
          </a:p>
          <a:p>
            <a:pPr marL="914400" indent="-457200" algn="just">
              <a:buFont typeface="Wingdings"/>
              <a:buChar char="Ø"/>
            </a:pPr>
            <a:r>
              <a:rPr lang="en-US" sz="1800">
                <a:latin typeface="Times New Roman"/>
                <a:cs typeface="Times New Roman"/>
              </a:rPr>
              <a:t>Tier 1 (Startup) : ₹15,000/month - 5 agents, 3 channels, 10K conversations.​</a:t>
            </a:r>
          </a:p>
          <a:p>
            <a:pPr marL="914400" indent="-457200" algn="just">
              <a:buFont typeface="Wingdings"/>
              <a:buChar char="Ø"/>
            </a:pPr>
            <a:r>
              <a:rPr lang="en-US" sz="1800">
                <a:latin typeface="Times New Roman"/>
                <a:cs typeface="Times New Roman"/>
              </a:rPr>
              <a:t>Tier 2 (Enterprise) : ₹75,000/month - unlimited agents, all channels, compliance module included.​</a:t>
            </a:r>
            <a:endParaRPr lang="en-US" sz="1800" dirty="0"/>
          </a:p>
          <a:p>
            <a:pPr marL="914400" indent="-457200" algn="just">
              <a:buFont typeface="Wingdings"/>
              <a:buChar char="Ø"/>
            </a:pPr>
            <a:endParaRPr lang="en-US" sz="1800" dirty="0">
              <a:latin typeface="Times New Roman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cs typeface="Times New Roman"/>
              </a:rPr>
              <a:t>Target Customers:</a:t>
            </a:r>
            <a:r>
              <a:rPr lang="en-US" sz="1800" dirty="0">
                <a:latin typeface="Times New Roman"/>
                <a:cs typeface="Times New Roman"/>
              </a:rPr>
              <a:t> PSU banks, private banks, NBFCs, large e-commerce players - all of whom </a:t>
            </a:r>
            <a:r>
              <a:rPr lang="en-US" sz="1800">
                <a:latin typeface="Times New Roman"/>
                <a:cs typeface="Times New Roman"/>
              </a:rPr>
              <a:t>are mandated</a:t>
            </a:r>
            <a:r>
              <a:rPr lang="en-US" sz="1800" dirty="0">
                <a:latin typeface="Times New Roman"/>
                <a:cs typeface="Times New Roman"/>
              </a:rPr>
              <a:t> by RBI and TRAI to support communication compliance records​</a:t>
            </a:r>
          </a:p>
          <a:p>
            <a:pPr algn="just"/>
            <a:r>
              <a:rPr lang="en-US" sz="1800">
                <a:latin typeface="Times New Roman"/>
                <a:cs typeface="Times New Roman"/>
              </a:rPr>
              <a:t>​</a:t>
            </a:r>
            <a:endParaRPr lang="en-US" sz="1800" dirty="0">
              <a:latin typeface="Times New Roman"/>
              <a:cs typeface="Times New Roman"/>
            </a:endParaRPr>
          </a:p>
          <a:p>
            <a:pPr algn="just"/>
            <a:r>
              <a:rPr lang="en-US" sz="1800" b="1">
                <a:latin typeface="Times New Roman"/>
                <a:cs typeface="Times New Roman"/>
              </a:rPr>
              <a:t>Commercialization Path:​</a:t>
            </a:r>
            <a:endParaRPr lang="en-US" sz="1800" b="1" dirty="0">
              <a:latin typeface="Times New Roman"/>
              <a:cs typeface="Times New Roman"/>
            </a:endParaRPr>
          </a:p>
          <a:p>
            <a:pPr marL="838200" indent="-514350" algn="just">
              <a:buFont typeface="Wingdings"/>
              <a:buChar char="Ø"/>
            </a:pPr>
            <a:r>
              <a:rPr lang="en-US" sz="1800">
                <a:latin typeface="Times New Roman"/>
                <a:cs typeface="Times New Roman"/>
              </a:rPr>
              <a:t>Hackathon prototype - Pilot with 1 MSME or startup.​</a:t>
            </a:r>
            <a:endParaRPr lang="en-US" sz="1800" dirty="0">
              <a:latin typeface="Times New Roman"/>
              <a:cs typeface="Times New Roman"/>
            </a:endParaRPr>
          </a:p>
          <a:p>
            <a:pPr marL="838200" indent="-514350" algn="just">
              <a:buFont typeface="Wingdings"/>
              <a:buChar char="Ø"/>
            </a:pPr>
            <a:r>
              <a:rPr lang="en-US" sz="1800">
                <a:latin typeface="Times New Roman"/>
                <a:cs typeface="Times New Roman"/>
              </a:rPr>
              <a:t>Pursue partnerships - government Digital India Stack.​</a:t>
            </a:r>
            <a:endParaRPr lang="en-US" sz="1800" dirty="0">
              <a:latin typeface="Times New Roman"/>
              <a:cs typeface="Times New Roman"/>
            </a:endParaRPr>
          </a:p>
          <a:p>
            <a:pPr marL="838200" indent="-514350" algn="just">
              <a:buFont typeface="Wingdings"/>
              <a:buChar char="Ø"/>
            </a:pPr>
            <a:r>
              <a:rPr lang="en-US" sz="1800">
                <a:latin typeface="Times New Roman"/>
                <a:cs typeface="Times New Roman"/>
              </a:rPr>
              <a:t>Scale via RBI's regulatory sandbox program for Fintech.​</a:t>
            </a:r>
            <a:endParaRPr lang="en-US" sz="1800" dirty="0">
              <a:latin typeface="Times New Roman"/>
              <a:cs typeface="Times New Roman"/>
            </a:endParaRPr>
          </a:p>
          <a:p>
            <a:pPr algn="just"/>
            <a:r>
              <a:rPr lang="en-US" sz="1800">
                <a:latin typeface="Times New Roman"/>
                <a:cs typeface="Times New Roman"/>
              </a:rPr>
              <a:t>​</a:t>
            </a:r>
            <a:endParaRPr lang="en-US" sz="1800" dirty="0">
              <a:latin typeface="Times New Roman"/>
              <a:cs typeface="Times New Roman"/>
            </a:endParaRPr>
          </a:p>
          <a:p>
            <a:pPr algn="just"/>
            <a:r>
              <a:rPr lang="en-US" sz="1800" b="1" dirty="0">
                <a:latin typeface="Times New Roman"/>
                <a:cs typeface="Times New Roman"/>
              </a:rPr>
              <a:t>Market Size:</a:t>
            </a:r>
            <a:r>
              <a:rPr lang="en-US" sz="1800" dirty="0">
                <a:latin typeface="Times New Roman"/>
                <a:cs typeface="Times New Roman"/>
              </a:rPr>
              <a:t> Indian customer experience market is projected at $1.3B by 2027 and </a:t>
            </a:r>
            <a:r>
              <a:rPr lang="en-US" sz="1800" dirty="0" err="1">
                <a:latin typeface="Times New Roman"/>
                <a:cs typeface="Times New Roman"/>
              </a:rPr>
              <a:t>complianceautomation</a:t>
            </a:r>
            <a:r>
              <a:rPr lang="en-US" sz="1800" dirty="0">
                <a:latin typeface="Times New Roman"/>
                <a:cs typeface="Times New Roman"/>
              </a:rPr>
              <a:t> is the fastest growing segment within it.​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/>
        </p:nvSpPr>
        <p:spPr>
          <a:xfrm>
            <a:off x="2934074" y="101850"/>
            <a:ext cx="7333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1009222" y="622288"/>
            <a:ext cx="39351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References</a:t>
            </a:r>
            <a:endParaRPr u="sng"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609600" y="1480820"/>
            <a:ext cx="11049000" cy="401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95400" lvl="2" indent="-514350">
              <a:buSzPts val="1800"/>
              <a:buFont typeface="Wingdings,Sans-Serif"/>
              <a:buChar char="§"/>
            </a:pPr>
            <a:endParaRPr lang="en-US" u="sng" dirty="0">
              <a:solidFill>
                <a:schemeClr val="hlink"/>
              </a:solidFill>
            </a:endParaRPr>
          </a:p>
          <a:p>
            <a:pPr marL="838200" lvl="1" indent="-514350">
              <a:lnSpc>
                <a:spcPct val="150000"/>
              </a:lnSpc>
              <a:buSzPts val="1800"/>
              <a:buFont typeface="Wingdings"/>
              <a:buChar char="Ø"/>
            </a:pPr>
            <a:r>
              <a:rPr lang="en-US">
                <a:latin typeface="Times New Roman"/>
                <a:cs typeface="Times New Roman"/>
              </a:rPr>
              <a:t>Twilio: </a:t>
            </a:r>
            <a:r>
              <a:rPr lang="en-US" dirty="0">
                <a:latin typeface="Times New Roman"/>
                <a:cs typeface="Times New Roman"/>
                <a:hlinkClick r:id="rId3"/>
              </a:rPr>
              <a:t>twilio</a:t>
            </a: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  <a:hlinkClick r:id="rId3"/>
              </a:rPr>
              <a:t>.</a:t>
            </a:r>
            <a:r>
              <a:rPr lang="en-US" dirty="0">
                <a:latin typeface="Times New Roman"/>
                <a:cs typeface="Times New Roman"/>
                <a:hlinkClick r:id="rId3"/>
              </a:rPr>
              <a:t>com/docs</a:t>
            </a:r>
          </a:p>
          <a:p>
            <a:pPr marL="838200" lvl="1" indent="-514350">
              <a:lnSpc>
                <a:spcPct val="150000"/>
              </a:lnSpc>
              <a:buSzPts val="1800"/>
              <a:buFont typeface="Wingdings"/>
              <a:buChar char="Ø"/>
            </a:pPr>
            <a:r>
              <a:rPr lang="en-US">
                <a:latin typeface="Times New Roman"/>
                <a:cs typeface="Times New Roman"/>
              </a:rPr>
              <a:t>HuggingFace — DistilBERT Model Card: </a:t>
            </a:r>
            <a:r>
              <a:rPr lang="en-US" dirty="0">
                <a:latin typeface="Times New Roman"/>
                <a:cs typeface="Times New Roman"/>
                <a:hlinkClick r:id="rId4"/>
              </a:rPr>
              <a:t>huggingface.co/distilbert-base-uncased</a:t>
            </a:r>
          </a:p>
          <a:p>
            <a:pPr marL="838200" lvl="1" indent="-514350">
              <a:lnSpc>
                <a:spcPct val="150000"/>
              </a:lnSpc>
              <a:buSzPts val="1800"/>
              <a:buFont typeface="Wingdings"/>
              <a:buChar char="Ø"/>
            </a:pPr>
            <a:r>
              <a:rPr lang="en-US">
                <a:latin typeface="Times New Roman"/>
                <a:cs typeface="Times New Roman"/>
              </a:rPr>
              <a:t>Banking77 Intent Classification Dataset: </a:t>
            </a:r>
            <a:r>
              <a:rPr lang="en-US" dirty="0">
                <a:latin typeface="Times New Roman"/>
                <a:cs typeface="Times New Roman"/>
                <a:hlinkClick r:id="rId5"/>
              </a:rPr>
              <a:t>huggingface.co/datasets/banking77</a:t>
            </a:r>
          </a:p>
          <a:p>
            <a:pPr marL="838200" lvl="1" indent="-514350">
              <a:lnSpc>
                <a:spcPct val="150000"/>
              </a:lnSpc>
              <a:buSzPts val="1800"/>
              <a:buFont typeface="Wingdings"/>
              <a:buChar char="Ø"/>
            </a:pPr>
            <a:r>
              <a:rPr lang="en-US">
                <a:latin typeface="Times New Roman"/>
                <a:cs typeface="Times New Roman"/>
              </a:rPr>
              <a:t>TRAI Regulations on Unsolicited Commercial Communication 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lang="en-US">
                <a:latin typeface="Times New Roman"/>
                <a:cs typeface="Times New Roman"/>
              </a:rPr>
              <a:t>DND): </a:t>
            </a:r>
            <a:r>
              <a:rPr lang="en-US" dirty="0">
                <a:latin typeface="Times New Roman"/>
                <a:cs typeface="Times New Roman"/>
                <a:hlinkClick r:id="rId6"/>
              </a:rPr>
              <a:t>trai</a:t>
            </a: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lang="en-US" dirty="0">
                <a:latin typeface="Times New Roman"/>
                <a:cs typeface="Times New Roman"/>
                <a:hlinkClick r:id="rId6"/>
              </a:rPr>
              <a:t>gov</a:t>
            </a: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lang="en-US" dirty="0">
                <a:latin typeface="Times New Roman"/>
                <a:cs typeface="Times New Roman"/>
                <a:hlinkClick r:id="rId6"/>
              </a:rPr>
              <a:t>in</a:t>
            </a:r>
          </a:p>
          <a:p>
            <a:pPr marL="838200" lvl="1" indent="-514350">
              <a:lnSpc>
                <a:spcPct val="150000"/>
              </a:lnSpc>
              <a:buSzPts val="1800"/>
              <a:buFont typeface="Wingdings"/>
              <a:buChar char="Ø"/>
            </a:pPr>
            <a:r>
              <a:rPr lang="en-US">
                <a:latin typeface="Times New Roman"/>
                <a:cs typeface="Times New Roman"/>
              </a:rPr>
              <a:t>RBI Guidelines on Digital Communication for Banks: </a:t>
            </a:r>
            <a:r>
              <a:rPr lang="en-US" dirty="0">
                <a:latin typeface="Times New Roman"/>
                <a:cs typeface="Times New Roman"/>
                <a:hlinkClick r:id="rId6"/>
              </a:rPr>
              <a:t>rbi.org.in</a:t>
            </a:r>
          </a:p>
          <a:p>
            <a:pPr marL="838200" lvl="1" indent="-514350">
              <a:lnSpc>
                <a:spcPct val="150000"/>
              </a:lnSpc>
              <a:buSzPts val="1800"/>
              <a:buFont typeface="Wingdings"/>
              <a:buChar char="Ø"/>
            </a:pPr>
            <a:r>
              <a:rPr lang="en-US">
                <a:latin typeface="Times New Roman"/>
                <a:cs typeface="Times New Roman"/>
              </a:rPr>
              <a:t>Facebook BART Summarization Model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: </a:t>
            </a:r>
            <a:r>
              <a:rPr lang="en-US" dirty="0">
                <a:latin typeface="Times New Roman"/>
                <a:cs typeface="Times New Roman"/>
                <a:hlinkClick r:id="rId7"/>
              </a:rPr>
              <a:t>huggingface.co/facebook/bart-large-cnn</a:t>
            </a:r>
          </a:p>
          <a:p>
            <a:pPr marL="838200" lvl="1" indent="-514350">
              <a:lnSpc>
                <a:spcPct val="150000"/>
              </a:lnSpc>
              <a:buSzPts val="1800"/>
              <a:buFont typeface="Wingdings"/>
              <a:buChar char="Ø"/>
            </a:pPr>
            <a:r>
              <a:rPr lang="en-US">
                <a:latin typeface="Times New Roman"/>
                <a:cs typeface="Times New Roman"/>
              </a:rPr>
              <a:t>Socket.IO Real-time 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Documentation</a:t>
            </a:r>
            <a:r>
              <a:rPr lang="en-US">
                <a:latin typeface="Times New Roman"/>
                <a:cs typeface="Times New Roman"/>
              </a:rPr>
              <a:t>: </a:t>
            </a:r>
            <a:r>
              <a:rPr lang="en-US" dirty="0">
                <a:latin typeface="Times New Roman"/>
                <a:cs typeface="Times New Roman"/>
                <a:hlinkClick r:id="rId8"/>
              </a:rPr>
              <a:t>socket</a:t>
            </a: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  <a:hlinkClick r:id="rId8"/>
              </a:rPr>
              <a:t>.</a:t>
            </a:r>
            <a:r>
              <a:rPr lang="en-US" dirty="0">
                <a:latin typeface="Times New Roman"/>
                <a:cs typeface="Times New Roman"/>
                <a:hlinkClick r:id="rId8"/>
              </a:rPr>
              <a:t>io/docs</a:t>
            </a:r>
          </a:p>
          <a:p>
            <a:pPr marL="838200" lvl="1" indent="-514350">
              <a:lnSpc>
                <a:spcPct val="150000"/>
              </a:lnSpc>
              <a:buSzPts val="1800"/>
              <a:buFont typeface="Wingdings"/>
              <a:buChar char="Ø"/>
            </a:pPr>
            <a:r>
              <a:rPr lang="en-US">
                <a:latin typeface="Times New Roman"/>
                <a:cs typeface="Times New Roman"/>
              </a:rPr>
              <a:t>Indian CX Market Report 2027 — Nasscom / KPMG</a:t>
            </a:r>
          </a:p>
          <a:p>
            <a:pPr marL="838200" lvl="1" indent="-514350">
              <a:lnSpc>
                <a:spcPct val="150000"/>
              </a:lnSpc>
              <a:buSzPts val="1800"/>
              <a:buFont typeface="Wingdings"/>
              <a:buChar char="Ø"/>
            </a:pPr>
            <a:r>
              <a:rPr lang="en-US">
                <a:latin typeface="Times New Roman"/>
                <a:cs typeface="Times New Roman"/>
              </a:rPr>
              <a:t>Next.js — React Framework 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Documentation: </a:t>
            </a:r>
            <a:r>
              <a:rPr lang="en-US" dirty="0">
                <a:latin typeface="Times New Roman"/>
                <a:cs typeface="Times New Roman"/>
                <a:hlinkClick r:id="rId9"/>
              </a:rPr>
              <a:t>nextjs.org/docs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>
            <a:spLocks noGrp="1"/>
          </p:cNvSpPr>
          <p:nvPr>
            <p:ph type="title"/>
          </p:nvPr>
        </p:nvSpPr>
        <p:spPr>
          <a:xfrm>
            <a:off x="1458000" y="2753723"/>
            <a:ext cx="9276000" cy="78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u="sng"/>
              <a:t>Thank You!</a:t>
            </a:r>
            <a:endParaRPr sz="5100" u="sng"/>
          </a:p>
        </p:txBody>
      </p:sp>
      <p:sp>
        <p:nvSpPr>
          <p:cNvPr id="144" name="Google Shape;144;p19"/>
          <p:cNvSpPr txBox="1"/>
          <p:nvPr/>
        </p:nvSpPr>
        <p:spPr>
          <a:xfrm>
            <a:off x="2934074" y="101850"/>
            <a:ext cx="7333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Technology, Gorakhpur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1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Microsoft Office PowerPoint</Application>
  <PresentationFormat>Widescreen</PresentationFormat>
  <Paragraphs>128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Noto Sans Symbols</vt:lpstr>
      <vt:lpstr>Times New Roman</vt:lpstr>
      <vt:lpstr>Wingdings</vt:lpstr>
      <vt:lpstr>Wingdings,Sans-Serif</vt:lpstr>
      <vt:lpstr>Office Theme</vt:lpstr>
      <vt:lpstr>“UnifyComm AI-Driven Channel Orchestration”</vt:lpstr>
      <vt:lpstr>Content</vt:lpstr>
      <vt:lpstr>Introduction</vt:lpstr>
      <vt:lpstr>The Problem: Fragmented Communication</vt:lpstr>
      <vt:lpstr>The Solution: Unifycomm</vt:lpstr>
      <vt:lpstr>Message Flow Diagram</vt:lpstr>
      <vt:lpstr>System Architecture</vt:lpstr>
      <vt:lpstr>Intent Classification Model</vt:lpstr>
      <vt:lpstr>Sentiment Analysis Model</vt:lpstr>
      <vt:lpstr>Technology Stack</vt:lpstr>
      <vt:lpstr>Feasibility and Viability</vt:lpstr>
      <vt:lpstr>Impacts and Benefits</vt:lpstr>
      <vt:lpstr>Production Scope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 Gupta</dc:creator>
  <cp:lastModifiedBy>Yash Gupta</cp:lastModifiedBy>
  <cp:revision>137</cp:revision>
  <dcterms:modified xsi:type="dcterms:W3CDTF">2026-03-31T16:35:13Z</dcterms:modified>
</cp:coreProperties>
</file>